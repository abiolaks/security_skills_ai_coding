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Relationship Id="rId8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091125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600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50">
                <a:solidFill>
                  <a:srgbClr val="EE1F2F"/>
                </a:solidFill>
                <a:latin typeface="Figtree"/>
              </a:rPr>
              <a:t>WRAGBY BUSINESS SOLUTIONS &amp; TECHNOLOGIES · AI &amp; SECURITY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E0F11"/>
                </a:solidFill>
                <a:latin typeface="Figtree"/>
              </a:rPr>
              <a:t>Secure by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063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E0F11"/>
                </a:solidFill>
                <a:latin typeface="Figtree"/>
              </a:rPr>
              <a:t>Security in </a:t>
            </a:r>
          </a:p>
          <a:p>
            <a:pPr algn="l"/>
            <a:r>
              <a:rPr sz="3400" b="1">
                <a:solidFill>
                  <a:srgbClr val="EE1F2F"/>
                </a:solidFill>
                <a:latin typeface="Figtree"/>
              </a:rPr>
              <a:t>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77639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A7078"/>
                </a:solidFill>
                <a:latin typeface="Figtree"/>
              </a:rPr>
              <a:t>How </a:t>
            </a:r>
          </a:p>
          <a:p>
            <a:pPr algn="l"/>
            <a:r>
              <a:rPr sz="1600" b="1">
                <a:solidFill>
                  <a:srgbClr val="3C4047"/>
                </a:solidFill>
                <a:latin typeface="Figtree"/>
              </a:rPr>
              <a:t>Project CodeGuard</a:t>
            </a:r>
          </a:p>
          <a:p>
            <a:pPr algn="l"/>
            <a:r>
              <a:rPr sz="1600" b="0">
                <a:solidFill>
                  <a:srgbClr val="6A7078"/>
                </a:solidFill>
                <a:latin typeface="Figtree"/>
              </a:rPr>
              <a:t> and the agentic workflow stop vulnerabilities before they reach production — and why “prompt and pray” is a security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A7078"/>
                </a:solidFill>
                <a:latin typeface="Figtree"/>
              </a:rPr>
              <a:t>Presenter · </a:t>
            </a:r>
          </a:p>
          <a:p>
            <a:pPr algn="l"/>
            <a:r>
              <a:rPr sz="1300" b="1">
                <a:solidFill>
                  <a:srgbClr val="0E0F11"/>
                </a:solidFill>
                <a:latin typeface="Figtree"/>
              </a:rPr>
              <a:t>Your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349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C4047"/>
                </a:solidFill>
                <a:latin typeface="JetBrains Mono"/>
              </a:rPr>
              <a:t>github.com/abiolaks/security_skills_ai_coding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The Problem ·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The AI Coding Speed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AI agents ship code 2–5× faster — and that speed amplifies every bad habit. The code below looks right, runs, and still ships three bugs.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8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5420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-box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622499"/>
            <a:ext cx="204825" cy="204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3054096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Hallucinated SDK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328416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openai.Embedding.generate()</a:t>
            </a:r>
          </a:p>
          <a:p>
            <a:pPr algn="l"/>
            <a:r>
              <a:rPr sz="1100" b="0">
                <a:solidFill>
                  <a:srgbClr val="3C4047"/>
                </a:solidFill>
                <a:latin typeface="Figtree"/>
              </a:rPr>
              <a:t> does not exist — it is </a:t>
            </a:r>
          </a:p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client.embeddings.create()</a:t>
            </a:r>
          </a:p>
          <a:p>
            <a:pPr algn="l"/>
            <a:r>
              <a:rPr sz="1100" b="0">
                <a:solidFill>
                  <a:srgbClr val="3C4047"/>
                </a:solidFill>
                <a:latin typeface="Figtree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2395728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35423" y="25420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-lock_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891" y="2622499"/>
            <a:ext cx="204825" cy="204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5423" y="3054096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Hardcoded API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3" y="3328416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“sk-proj-…”</a:t>
            </a:r>
          </a:p>
          <a:p>
            <a:pPr algn="l"/>
            <a:r>
              <a:rPr sz="1100" b="0">
                <a:solidFill>
                  <a:srgbClr val="3C4047"/>
                </a:solidFill>
                <a:latin typeface="Figtree"/>
              </a:rPr>
              <a:t> lands in git history. One push and the key is revoked.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2395728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57615" y="25420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-bug_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083" y="2622499"/>
            <a:ext cx="204825" cy="204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57615" y="3054096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Skipped edge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3328416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047"/>
                </a:solidFill>
                <a:latin typeface="Figtree"/>
              </a:rPr>
              <a:t>No rate limits, no input validation, no error handling. A 1 MB payload burns your API budget.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41648"/>
            <a:ext cx="11091672" cy="3310127"/>
          </a:xfrm>
          <a:prstGeom prst="roundRect">
            <a:avLst>
              <a:gd name="adj" fmla="val 2486"/>
            </a:avLst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197096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JetBrains Mono"/>
              </a:rPr>
              <a:t># 12 lines, 5 problems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384548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from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fastapi</a:t>
            </a:r>
            <a:r>
              <a:rPr sz="1050" b="0">
                <a:solidFill>
                  <a:srgbClr val="FF7B72"/>
                </a:solidFill>
                <a:latin typeface="JetBrains Mono"/>
              </a:rPr>
              <a:t> import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FastAPI,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49140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EE1F2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572000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B4BB"/>
                </a:solidFill>
                <a:latin typeface="JetBrains Mono"/>
              </a:rPr>
              <a:t>from 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openai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 import 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Embedding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    # ← hallucinated import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59452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from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pinecone</a:t>
            </a:r>
            <a:r>
              <a:rPr sz="1050" b="0">
                <a:solidFill>
                  <a:srgbClr val="FF7B72"/>
                </a:solidFill>
                <a:latin typeface="JetBrains Mono"/>
              </a:rPr>
              <a:t> import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Pinecone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46904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134356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app = FastAPI()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98948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EE1F2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321808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B4BB"/>
                </a:solidFill>
                <a:latin typeface="JetBrains Mono"/>
              </a:rPr>
              <a:t>API_KEY = 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"sk-proj-abc123"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    # ← hardcoded secret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509260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pc = Pinecone(api_key=API_KEY)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696712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884164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9C0FF"/>
                </a:solidFill>
                <a:latin typeface="JetBrains Mono"/>
              </a:rPr>
              <a:t>@app.post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(</a:t>
            </a:r>
            <a:r>
              <a:rPr sz="1050" b="0">
                <a:solidFill>
                  <a:srgbClr val="7EE787"/>
                </a:solidFill>
                <a:latin typeface="JetBrains Mono"/>
              </a:rPr>
              <a:t>"/rag/query"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6071616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async def </a:t>
            </a:r>
            <a:r>
              <a:rPr sz="1050" b="0">
                <a:solidFill>
                  <a:srgbClr val="79C0FF"/>
                </a:solidFill>
                <a:latin typeface="JetBrains Mono"/>
              </a:rPr>
              <a:t>rag_query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(request: Request):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6236208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EE1F2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259068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B4BB"/>
                </a:solidFill>
                <a:latin typeface="JetBrains Mono"/>
              </a:rPr>
              <a:t>    query = body[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"q"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]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       # ← no validation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6423660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EE1F2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6446520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B4BB"/>
                </a:solidFill>
                <a:latin typeface="JetBrains Mono"/>
              </a:rPr>
              <a:t>    embedding = Embedding.generate(</a:t>
            </a:r>
            <a:r>
              <a:rPr sz="1050" b="0">
                <a:solidFill>
                  <a:srgbClr val="FFB4BB"/>
                </a:solidFill>
                <a:latin typeface="JetBrains Mono"/>
              </a:rPr>
              <a:t>   # ← hallucinated method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6633972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        model=</a:t>
            </a:r>
            <a:r>
              <a:rPr sz="1050" b="0">
                <a:solidFill>
                  <a:srgbClr val="7EE787"/>
                </a:solidFill>
                <a:latin typeface="JetBrains Mono"/>
              </a:rPr>
              <a:t>"text-embedding-3-small"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, input=query)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6821424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    results = index.query(vector=embedding, top_k=</a:t>
            </a:r>
            <a:r>
              <a:rPr sz="1050" b="0">
                <a:solidFill>
                  <a:srgbClr val="F2CC60"/>
                </a:solidFill>
                <a:latin typeface="JetBrains Mono"/>
              </a:rPr>
              <a:t>5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7008876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    return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{"results": results}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Evidence ·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The Scale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Cisco's controlled study: 2,717 prompts × 2 agents (baseline vs CodeGuard) × 9 languages, GPT-5.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8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7860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E1F2F"/>
                </a:solidFill>
                <a:latin typeface="Figtree"/>
              </a:rPr>
              <a:t>415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918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A7078"/>
                </a:solidFill>
                <a:latin typeface="Figtree"/>
              </a:rPr>
              <a:t>security findings
without CodeGuard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395728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257860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ADEF"/>
                </a:solidFill>
                <a:latin typeface="Figtree"/>
              </a:rPr>
              <a:t>264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2918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A7078"/>
                </a:solidFill>
                <a:latin typeface="Figtree"/>
              </a:rPr>
              <a:t>security findings
with CodeGuard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2395728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57860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59A4B"/>
                </a:solidFill>
                <a:latin typeface="Figtree"/>
              </a:rPr>
              <a:t>36.4%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2918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A7078"/>
                </a:solidFill>
                <a:latin typeface="Figtree"/>
              </a:rPr>
              <a:t>reduction in vulnerabilities
p &lt; 0.05 across benchmarks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0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430682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-target_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4387291"/>
            <a:ext cx="204825" cy="204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3232" y="481888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Hardest benchmark — SecurityEval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093207"/>
            <a:ext cx="511149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C4047"/>
                </a:solidFill>
                <a:latin typeface="Figtree"/>
              </a:rPr>
              <a:t>59.1% fewer findings on the hardest security benchmark.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4160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4223" y="430682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-trend_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4387291"/>
            <a:ext cx="204825" cy="2048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64223" y="481888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Clean snippets improve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3" y="5093207"/>
            <a:ext cx="511149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C4047"/>
                </a:solidFill>
                <a:latin typeface="Figtree"/>
              </a:rPr>
              <a:t>68.6% → 85.1% of generated snippets with no security findings.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1AB"/>
                </a:solidFill>
                <a:latin typeface="Figtree"/>
              </a:rPr>
              <a:t>Source: Cisco / CoSAI — “Can Security Rules Make AI Generated Code Safer?”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The Problem ·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The Old Way: Prompt &amp; Pray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Most teams treat AI coding agents like a chatbot — unstructured, unverified, insecure.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-terminal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24871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8529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0F11"/>
                </a:solidFill>
                <a:latin typeface="Figtree"/>
              </a:rPr>
              <a:t>Prompt</a:t>
            </a:r>
          </a:p>
        </p:txBody>
      </p:sp>
      <p:pic>
        <p:nvPicPr>
          <p:cNvPr id="13" name="Picture 12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633472"/>
            <a:ext cx="274320" cy="274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70831" y="23774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-sparkles_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59" y="2487168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70831" y="28529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0F11"/>
                </a:solidFill>
                <a:latin typeface="Figtree"/>
              </a:rPr>
              <a:t>AI writes code</a:t>
            </a:r>
          </a:p>
        </p:txBody>
      </p:sp>
      <p:pic>
        <p:nvPicPr>
          <p:cNvPr id="17" name="Picture 16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633472"/>
            <a:ext cx="274320" cy="2743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93023" y="23774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DECEE"/>
          </a:solidFill>
          <a:ln w="12700">
            <a:solidFill>
              <a:srgbClr val="EE1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-x-circle_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1" y="2487168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93023" y="28529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0F11"/>
                </a:solidFill>
                <a:latin typeface="Figtree"/>
              </a:rPr>
              <a:t>Ship?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89534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-x-circle_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" y="3975811"/>
            <a:ext cx="204825" cy="204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3232" y="4407407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What's missing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681727"/>
            <a:ext cx="5111496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No specification — building the wrong thing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No security review — vulnerabilities ship silently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No standards check — inconsistent code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No testing discipline — regressions go unnoticed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1" y="3749039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4223" y="389534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-alert_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691" y="3975811"/>
            <a:ext cx="204825" cy="204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64223" y="4407407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The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3" y="4681727"/>
            <a:ext cx="5111496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SQL injection in production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Hardcoded API keys in git history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Weak hashing on passwords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Missing access controls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E1F2F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Nobody knows what the code should 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E0F11"/>
                </a:solidFill>
                <a:latin typeface="Figtree"/>
              </a:rPr>
              <a:t>Speed without structure = </a:t>
            </a:r>
          </a:p>
          <a:p>
            <a:pPr algn="ctr"/>
            <a:r>
              <a:rPr sz="1400" b="1">
                <a:solidFill>
                  <a:srgbClr val="EE1F2F"/>
                </a:solidFill>
                <a:latin typeface="Figtree"/>
              </a:rPr>
              <a:t>amplified insecurity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The Solution ·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The Agentic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A structured pipeline that treats AI as an engineering teammate — not a magic oracle.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-flame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46888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8346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E0F11"/>
                </a:solidFill>
                <a:latin typeface="Figtree"/>
              </a:rPr>
              <a:t>Grill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10896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Stress-test the idea</a:t>
            </a:r>
          </a:p>
        </p:txBody>
      </p:sp>
      <p:pic>
        <p:nvPicPr>
          <p:cNvPr id="14" name="Picture 13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2788920"/>
            <a:ext cx="237744" cy="2377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779776" y="2359152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-file_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468880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79776" y="28346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E0F11"/>
                </a:solidFill>
                <a:latin typeface="Figtree"/>
              </a:rPr>
              <a:t>To-spec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10896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Testable spec</a:t>
            </a:r>
          </a:p>
        </p:txBody>
      </p:sp>
      <p:pic>
        <p:nvPicPr>
          <p:cNvPr id="19" name="Picture 18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788920"/>
            <a:ext cx="237744" cy="2377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010912" y="2359152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-clipboard_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246888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10912" y="28346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E0F11"/>
                </a:solidFill>
                <a:latin typeface="Figtree"/>
              </a:rPr>
              <a:t>To-tickets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10896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Small work items</a:t>
            </a:r>
          </a:p>
        </p:txBody>
      </p:sp>
      <p:pic>
        <p:nvPicPr>
          <p:cNvPr id="24" name="Picture 23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788920"/>
            <a:ext cx="237744" cy="23774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242048" y="2359152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-terminal_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2468880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42048" y="28346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E0F11"/>
                </a:solidFill>
                <a:latin typeface="Figtree"/>
              </a:rPr>
              <a:t>Implement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10896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TDD + security</a:t>
            </a:r>
          </a:p>
        </p:txBody>
      </p:sp>
      <p:pic>
        <p:nvPicPr>
          <p:cNvPr id="29" name="Picture 28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2788920"/>
            <a:ext cx="237744" cy="23774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473184" y="2359152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-search_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3576" y="2468880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73184" y="28346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E0F11"/>
                </a:solidFill>
                <a:latin typeface="Figtree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310896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Standards + spec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977639"/>
            <a:ext cx="3566160" cy="1325880"/>
          </a:xfrm>
          <a:prstGeom prst="roundRect">
            <a:avLst>
              <a:gd name="adj" fmla="val 6206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142231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416551"/>
            <a:ext cx="32369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047"/>
                </a:solidFill>
                <a:latin typeface="Figtree"/>
              </a:rPr>
              <a:t>Every phase has a purpose. Every output is verified before the next begins.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1" y="3977639"/>
            <a:ext cx="3566160" cy="1325880"/>
          </a:xfrm>
          <a:prstGeom prst="roundRect">
            <a:avLst>
              <a:gd name="adj" fmla="val 6206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5423" y="4142231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3" y="4416551"/>
            <a:ext cx="32369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047"/>
                </a:solidFill>
                <a:latin typeface="Figtree"/>
              </a:rPr>
              <a:t>TDD red→green bakes edge cases in. Typechecking runs throughout.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3023" y="3977639"/>
            <a:ext cx="3566160" cy="1325880"/>
          </a:xfrm>
          <a:prstGeom prst="roundRect">
            <a:avLst>
              <a:gd name="adj" fmla="val 6206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5" y="4142231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Correctness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5" y="4416551"/>
            <a:ext cx="32369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047"/>
                </a:solidFill>
                <a:latin typeface="Figtree"/>
              </a:rPr>
              <a:t>Two-axis review: standards (conventions) and spec (did it build the right thing).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5321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A7078"/>
                </a:solidFill>
                <a:latin typeface="Figtree"/>
              </a:rPr>
              <a:t>This solves structure, quality and correctness — </a:t>
            </a:r>
          </a:p>
          <a:p>
            <a:pPr algn="l"/>
            <a:r>
              <a:rPr sz="1250" b="1">
                <a:solidFill>
                  <a:srgbClr val="0E0F11"/>
                </a:solidFill>
                <a:latin typeface="Figtree"/>
              </a:rPr>
              <a:t>but there is still a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The Gap ·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The Security Gap in Code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Code review checks standards and spec. It does not check for SQL injection, hardcoded secrets, or weak crypto.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8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5420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-check-circle_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622499"/>
            <a:ext cx="204825" cy="204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3054096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What code review catches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328416"/>
            <a:ext cx="5111496" cy="160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59A4B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Mysterious names, duplication, feature envy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59A4B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Missing spec requirements, scope creep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59A4B"/>
                </a:solidFill>
                <a:latin typeface="Figtree"/>
              </a:rPr>
              <a:t>▪  </a:t>
            </a:r>
            <a:r>
              <a:rPr sz="1150" b="0">
                <a:solidFill>
                  <a:srgbClr val="3C4047"/>
                </a:solidFill>
                <a:latin typeface="Figtree"/>
              </a:rPr>
              <a:t>Broken conventions, refactoring smells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395728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4223" y="25420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-x-circle_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2622499"/>
            <a:ext cx="204825" cy="204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64223" y="3054096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What code review misses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3" y="3328416"/>
            <a:ext cx="5111496" cy="160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E1F2F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cursor.execute(f"SELECT * FROM {table}")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E1F2F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API_KEY = "sk-live-…"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E1F2F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hashlib.md5(password).hexdigest()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E1F2F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subprocess.run(cmd, shell=True)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EE1F2F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Missing CSRF tokens, no CSP, root containers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E0F11"/>
                </a:solidFill>
                <a:latin typeface="Figtree"/>
              </a:rPr>
              <a:t>Standards + Spec </a:t>
            </a:r>
          </a:p>
          <a:p>
            <a:pPr algn="ctr"/>
            <a:r>
              <a:rPr sz="2000" b="1">
                <a:solidFill>
                  <a:srgbClr val="EE1F2F"/>
                </a:solidFill>
                <a:latin typeface="Figtree"/>
              </a:rPr>
              <a:t>≠</a:t>
            </a:r>
          </a:p>
          <a:p>
            <a:pPr algn="ctr"/>
            <a:r>
              <a:rPr sz="2000" b="1">
                <a:solidFill>
                  <a:srgbClr val="0E0F11"/>
                </a:solidFill>
                <a:latin typeface="Figtree"/>
              </a:rPr>
              <a:t>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>
                <a:solidFill>
                  <a:srgbClr val="6A7078"/>
                </a:solidFill>
                <a:latin typeface="Figtree"/>
              </a:rPr>
              <a:t>Security is a third axis that deserves its own dedicated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The Solution ·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Enter Project CodeGuard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An open-source framework by CoSAI / Cisco — 23 OWASP-backed security rules embedded into AI coding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047"/>
                </a:solidFill>
                <a:latin typeface="Figtree"/>
              </a:rPr>
              <a:t>Cryptography  ·  Input Validation  ·  Authentication  ·  Authorization  ·  API Security  ·  Session Mgmt  ·  XSS / CSRF  ·  Data Storage  ·  Logging  ·  Supply Chain  ·  File Handling  ·  Docker / K8s  ·  IaC Security  ·  SSRF Prevention  ·  MFA / OAuth  ·  Hardcoded Secrets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10128"/>
            <a:ext cx="5440680" cy="2011680"/>
          </a:xfrm>
          <a:prstGeom prst="roundRect">
            <a:avLst>
              <a:gd name="adj" fmla="val 409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34564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-layers_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536899"/>
            <a:ext cx="204825" cy="204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" y="3968496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Two-phase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42816"/>
            <a:ext cx="511149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0ADEF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During generation — rules loaded into the agent's context, preventing vulnerabilities before they are introduced.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0ADEF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After generation — a full 23-rule audit of the diff catches what slipped through.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3310128"/>
            <a:ext cx="5440680" cy="2011680"/>
          </a:xfrm>
          <a:prstGeom prst="roundRect">
            <a:avLst>
              <a:gd name="adj" fmla="val 409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3" y="345643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-gauge_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3536899"/>
            <a:ext cx="204825" cy="204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4223" y="3968496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Proven impact (2,717 prompts)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4242816"/>
            <a:ext cx="511149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59A4B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36.4% fewer vulnerabilities overall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59A4B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59.1% on SecurityEval · 28.9% on CyberSecEval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59A4B"/>
                </a:solidFill>
                <a:latin typeface="Figtree"/>
              </a:rPr>
              <a:t>▪  </a:t>
            </a:r>
            <a:r>
              <a:rPr sz="1100" b="0">
                <a:solidFill>
                  <a:srgbClr val="3C4047"/>
                </a:solidFill>
                <a:latin typeface="Figtree"/>
              </a:rPr>
              <a:t>Clean snippets 68.6% → 85.1% · p &lt; 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AA1AB"/>
                </a:solidFill>
                <a:latin typeface="Figtree"/>
              </a:rPr>
              <a:t>Model-agnostic — GPT-5, Claude, Gemini — across Cursor, Copilot, Codex, Claude Code, Windsurf and 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How it works · 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Phase 1: During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Security rules are loaded into the agent's context before it writes a single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5440680" cy="2286000"/>
          </a:xfrm>
          <a:prstGeom prst="roundRect">
            <a:avLst>
              <a:gd name="adj" fmla="val 3599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52374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-shield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604211"/>
            <a:ext cx="204825" cy="204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303580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Always-on rules (every session)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310128"/>
            <a:ext cx="511149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EE1F2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Never hardcode credentials — env vars or secrets manager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EE1F2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Never use weak crypto — Argon2id, AES-256-GCM, TLS 1.3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EE1F2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Never concatenate into queries — parameterized SQL, no shell=True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EE1F2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Validate all untrusted input at trust boundaries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377440"/>
            <a:ext cx="5440680" cy="2286000"/>
          </a:xfrm>
          <a:prstGeom prst="roundRect">
            <a:avLst>
              <a:gd name="adj" fmla="val 3599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4223" y="252374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-target_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2604211"/>
            <a:ext cx="204825" cy="204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64223" y="303580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Context-scoped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3" y="3310128"/>
            <a:ext cx="511149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0ADE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Auth → MFA, OAuth PKCE, Argon2id, rate limiting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0ADE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API → SSRF prevention, HTTPS, schema validation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0ADE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Frontend → XSS sinks, CSP, CSRF tokens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00ADEF"/>
                </a:solidFill>
                <a:latin typeface="Figtree"/>
              </a:rPr>
              <a:t>▪  </a:t>
            </a:r>
            <a:r>
              <a:rPr sz="1050" b="0">
                <a:solidFill>
                  <a:srgbClr val="3C4047"/>
                </a:solidFill>
                <a:latin typeface="Figtree"/>
              </a:rPr>
              <a:t>Docker / K8s → non-root, pinned digests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28032"/>
            <a:ext cx="11091672" cy="3310127"/>
          </a:xfrm>
          <a:prstGeom prst="roundRect">
            <a:avLst>
              <a:gd name="adj" fmla="val 2486"/>
            </a:avLst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983480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import 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170932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from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openai</a:t>
            </a:r>
            <a:r>
              <a:rPr sz="1050" b="0">
                <a:solidFill>
                  <a:srgbClr val="FF7B72"/>
                </a:solidFill>
                <a:latin typeface="JetBrains Mono"/>
              </a:rPr>
              <a:t> import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OpenAI</a:t>
            </a:r>
            <a:r>
              <a:rPr sz="1050" b="0">
                <a:solidFill>
                  <a:srgbClr val="8B949E"/>
                </a:solidFill>
                <a:latin typeface="JetBrains Mono"/>
              </a:rPr>
              <a:t>           # ← correct import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58384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22976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545836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client = OpenAI(api_key=os.environ["OPENAI_API_KEY"])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733288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920740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9C0FF"/>
                </a:solidFill>
                <a:latin typeface="JetBrains Mono"/>
              </a:rPr>
              <a:t>@app.post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("/rag/query")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6108192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9C0FF"/>
                </a:solidFill>
                <a:latin typeface="JetBrains Mono"/>
              </a:rPr>
              <a:t>@limiter.limit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("30/minute")</a:t>
            </a:r>
            <a:r>
              <a:rPr sz="1050" b="0">
                <a:solidFill>
                  <a:srgbClr val="8B949E"/>
                </a:solidFill>
                <a:latin typeface="JetBrains Mono"/>
              </a:rPr>
              <a:t>      # ← rate limited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295644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async def </a:t>
            </a:r>
            <a:r>
              <a:rPr sz="1050" b="0">
                <a:solidFill>
                  <a:srgbClr val="79C0FF"/>
                </a:solidFill>
                <a:latin typeface="JetBrains Mono"/>
              </a:rPr>
              <a:t>rag_query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(request: Request):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460236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6483096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    body = 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await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 request.json()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647688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6670548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    query = (body 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or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 {}).get("q", "").strip()   # ← validated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835140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858000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    if not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 query 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or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 len(query) &gt; 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1000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:      # ← bounded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7022592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7045452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        raise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 HTTPException(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400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, "Invalid query")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7232904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7397496"/>
            <a:ext cx="11055096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7420356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    embedding = client.embeddings.create(   # ← real method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7607808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        model=</a:t>
            </a:r>
            <a:r>
              <a:rPr sz="1050" b="0">
                <a:solidFill>
                  <a:srgbClr val="7EE787"/>
                </a:solidFill>
                <a:latin typeface="JetBrains Mono"/>
              </a:rPr>
              <a:t>"text-embedding-3-small"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, input=query)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7795260"/>
            <a:ext cx="10689336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    return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{"results": index.query(...)}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How it works ·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09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Phase 2: After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A dedicated security sub-agent audits every changed line against all 23 CodeGuard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-git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46888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83464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0F11"/>
                </a:solidFill>
                <a:latin typeface="Figtree"/>
              </a:rPr>
              <a:t>git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127248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main…HEAD</a:t>
            </a:r>
          </a:p>
        </p:txBody>
      </p:sp>
      <p:pic>
        <p:nvPicPr>
          <p:cNvPr id="14" name="Picture 13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788920"/>
            <a:ext cx="237744" cy="2377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8328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-list_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468880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83280" y="283464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0F11"/>
                </a:solidFill>
                <a:latin typeface="Figtree"/>
              </a:rPr>
              <a:t>Match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127248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to changed files</a:t>
            </a:r>
          </a:p>
        </p:txBody>
      </p:sp>
      <p:pic>
        <p:nvPicPr>
          <p:cNvPr id="19" name="Picture 18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788920"/>
            <a:ext cx="237744" cy="2377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1792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-shield-check_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246888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17920" y="283464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0F11"/>
                </a:solidFill>
                <a:latin typeface="Figtree"/>
              </a:rPr>
              <a:t>Security sub-agent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127248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23-rule audit</a:t>
            </a:r>
          </a:p>
        </p:txBody>
      </p:sp>
      <p:pic>
        <p:nvPicPr>
          <p:cNvPr id="24" name="Picture 23" descr="i-arrow_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788920"/>
            <a:ext cx="237744" cy="23774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05256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-gauge_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0" y="2468880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52560" y="283464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0F11"/>
                </a:solidFill>
                <a:latin typeface="Figtree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3127248"/>
            <a:ext cx="2459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A7078"/>
                </a:solidFill>
                <a:latin typeface="Figtree"/>
              </a:rPr>
              <a:t>by severity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77639"/>
            <a:ext cx="5440680" cy="1005840"/>
          </a:xfrm>
          <a:prstGeom prst="roundRect">
            <a:avLst>
              <a:gd name="adj" fmla="val 8181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412394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4155948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EE1F2F"/>
                </a:solidFill>
                <a:latin typeface="Figtree"/>
              </a:rP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2495" y="411480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0F11"/>
                </a:solidFill>
                <a:latin typeface="Figtree"/>
              </a:rPr>
              <a:t>Credential leak, RCE, SQL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82495" y="438912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C4047"/>
                </a:solidFill>
                <a:latin typeface="Figtree"/>
              </a:rPr>
              <a:t>Hardcoded AWS keys, raw SQL concat, pickle.loads on user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3977639"/>
            <a:ext cx="5440680" cy="1005840"/>
          </a:xfrm>
          <a:prstGeom prst="roundRect">
            <a:avLst>
              <a:gd name="adj" fmla="val 8181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45936" y="412394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155948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C07D00"/>
                </a:solidFill>
                <a:latin typeface="Figtree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411480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0F11"/>
                </a:solidFill>
                <a:latin typeface="Figtree"/>
              </a:rPr>
              <a:t>Auth bypass, data exposure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438912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C4047"/>
                </a:solidFill>
                <a:latin typeface="Figtree"/>
              </a:rPr>
              <a:t>Missing CSRF, IDOR-vulnerable queries, MD5 for passwords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48072"/>
            <a:ext cx="5440680" cy="1005840"/>
          </a:xfrm>
          <a:prstGeom prst="roundRect">
            <a:avLst>
              <a:gd name="adj" fmla="val 8181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4944" y="52943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5326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3C4047"/>
                </a:solidFill>
                <a:latin typeface="Figtree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82495" y="528523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0F11"/>
                </a:solidFill>
                <a:latin typeface="Figtree"/>
              </a:rPr>
              <a:t>Weak config, hardening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82495" y="5559552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C4047"/>
                </a:solidFill>
                <a:latin typeface="Figtree"/>
              </a:rPr>
              <a:t>Missing security headers, no CSP, running as root in Docker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1" y="5148072"/>
            <a:ext cx="5440680" cy="1005840"/>
          </a:xfrm>
          <a:prstGeom prst="roundRect">
            <a:avLst>
              <a:gd name="adj" fmla="val 8181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45936" y="52943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5326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9AA1AB"/>
                </a:solidFill>
                <a:latin typeface="Figtree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528523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0F11"/>
                </a:solidFill>
                <a:latin typeface="Figtree"/>
              </a:rPr>
              <a:t>Improvement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33488" y="5559552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C4047"/>
                </a:solidFill>
                <a:latin typeface="Figtree"/>
              </a:rPr>
              <a:t>Missing structured logging, no SBOM, no healthcheck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9AA1AB"/>
                </a:solidFill>
                <a:latin typeface="Figtree"/>
              </a:rPr>
              <a:t>Runs alongside (not instead of) code review — a separate axis with dedicated focus.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The Workflow ·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THE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The Complete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Security baked into every phase — not bolted on at the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8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3566160" cy="54864"/>
          </a:xfrm>
          <a:prstGeom prst="rect">
            <a:avLst/>
          </a:prstGeom>
          <a:solidFill>
            <a:srgbClr val="C0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57860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-flame_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2659075"/>
            <a:ext cx="204825" cy="204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0F11"/>
                </a:solidFill>
                <a:latin typeface="Figtree"/>
              </a:rPr>
              <a:t>Before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015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047"/>
                </a:solidFill>
                <a:latin typeface="Figtree"/>
              </a:rPr>
              <a:t>Grill stress-tests the idea. Spec defines secure requirements. Tickets scope work into safe increments.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A7078"/>
                </a:solidFill>
                <a:latin typeface="Figtree"/>
              </a:rPr>
              <a:t>Security starts at design — auth, data classification, threat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1" y="2395728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1" y="2395728"/>
            <a:ext cx="3566160" cy="54864"/>
          </a:xfrm>
          <a:prstGeom prst="rect">
            <a:avLst/>
          </a:prstGeom>
          <a:solidFill>
            <a:srgbClr val="00A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3712" y="257860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-shield_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179" y="2659075"/>
            <a:ext cx="204825" cy="204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53712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0F11"/>
                </a:solidFill>
                <a:latin typeface="Figtree"/>
              </a:rPr>
              <a:t>During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4015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047"/>
                </a:solidFill>
                <a:latin typeface="Figtree"/>
              </a:rPr>
              <a:t>CodeGuard rules loaded into context. Always-on rules prevent secrets, weak crypto and injection.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526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A7078"/>
                </a:solidFill>
                <a:latin typeface="Figtree"/>
              </a:rPr>
              <a:t>Agent writes secure code by default — not “fix it in review.”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3" y="2395728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3" y="2395728"/>
            <a:ext cx="3566160" cy="54864"/>
          </a:xfrm>
          <a:prstGeom prst="rect">
            <a:avLst/>
          </a:prstGeom>
          <a:solidFill>
            <a:srgbClr val="15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75903" y="2578608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-shield-check_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371" y="2659075"/>
            <a:ext cx="204825" cy="2048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75903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0F11"/>
                </a:solidFill>
                <a:latin typeface="Figtree"/>
              </a:rPr>
              <a:t>After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3" y="34015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C4047"/>
                </a:solidFill>
                <a:latin typeface="Figtree"/>
              </a:rPr>
              <a:t>Dual review: codeguard-review audits 23 rules; code-review checks standards and spec.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3" y="4526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A7078"/>
                </a:solidFill>
                <a:latin typeface="Figtree"/>
              </a:rPr>
              <a:t>Defense in depth — what one misses, the other catches.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9A4B"/>
                </a:solidFill>
                <a:latin typeface="Figtree"/>
              </a:rPr>
              <a:t>Secure by default. </a:t>
            </a:r>
          </a:p>
          <a:p>
            <a:pPr algn="ctr"/>
            <a:r>
              <a:rPr sz="1800" b="0">
                <a:solidFill>
                  <a:srgbClr val="6A7078"/>
                </a:solidFill>
                <a:latin typeface="Figtree"/>
              </a:rPr>
              <a:t>Not “secure if we remember.”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Proof ·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Real Example: Before &amp;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SecurityEval benchmark — same prompt, same model (GPT-5). The only difference is CodeGuard.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5440680" cy="420624"/>
          </a:xfrm>
          <a:prstGeom prst="roundRect">
            <a:avLst>
              <a:gd name="adj" fmla="val 19565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-x-circle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68880"/>
            <a:ext cx="182880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264" y="2468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E1F2F"/>
                </a:solidFill>
                <a:latin typeface="Figtree"/>
              </a:rPr>
              <a:t>Without CodeGuard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5440680" cy="1248156"/>
          </a:xfrm>
          <a:prstGeom prst="roundRect">
            <a:avLst>
              <a:gd name="adj" fmla="val 6593"/>
            </a:avLst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35224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raw_data = request.get_data(as_text=</a:t>
            </a:r>
            <a:r>
              <a:rPr sz="1050" b="0">
                <a:solidFill>
                  <a:srgbClr val="FF7B72"/>
                </a:solidFill>
                <a:latin typeface="JetBrains Mono"/>
              </a:rPr>
              <a:t>True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122676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decoded = base64.b64decode(raw_data)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87268"/>
            <a:ext cx="5404104" cy="187452"/>
          </a:xfrm>
          <a:prstGeom prst="roundRect">
            <a:avLst>
              <a:gd name="adj" fmla="val 9756"/>
            </a:avLst>
          </a:prstGeom>
          <a:solidFill>
            <a:srgbClr val="EE1F2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10128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B4BB"/>
                </a:solidFill>
                <a:latin typeface="JetBrains Mono"/>
              </a:rPr>
              <a:t>deserialized = pickle.loads(decoded)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74720"/>
            <a:ext cx="5404104" cy="187452"/>
          </a:xfrm>
          <a:prstGeom prst="roundRect">
            <a:avLst>
              <a:gd name="adj" fmla="val 9756"/>
            </a:avLst>
          </a:prstGeom>
          <a:solidFill>
            <a:srgbClr val="EE1F2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497580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B4BB"/>
                </a:solidFill>
                <a:latin typeface="JetBrains Mono"/>
              </a:rPr>
              <a:t># ← arbitrary code execution (CWE-502)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85032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return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deserialized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2359152"/>
            <a:ext cx="5440680" cy="420624"/>
          </a:xfrm>
          <a:prstGeom prst="roundRect">
            <a:avLst>
              <a:gd name="adj" fmla="val 19565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-check-circle_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468880"/>
            <a:ext cx="182880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0255" y="2468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9A4B"/>
                </a:solidFill>
                <a:latin typeface="Figtree"/>
              </a:rPr>
              <a:t>With CodeGuard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2779776"/>
            <a:ext cx="5440680" cy="1435608"/>
          </a:xfrm>
          <a:prstGeom prst="roundRect">
            <a:avLst>
              <a:gd name="adj" fmla="val 5732"/>
            </a:avLst>
          </a:prstGeom>
          <a:solidFill>
            <a:srgbClr val="0F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2935224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raw_data = request.get_data(as_text=</a:t>
            </a:r>
            <a:r>
              <a:rPr sz="1050" b="0">
                <a:solidFill>
                  <a:srgbClr val="FF7B72"/>
                </a:solidFill>
                <a:latin typeface="JetBrains Mono"/>
              </a:rPr>
              <a:t>True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19" y="3099816"/>
            <a:ext cx="5404104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799" y="3122676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if not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 raw_data: abort(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400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9" y="3310128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1E8"/>
                </a:solidFill>
                <a:latin typeface="JetBrains Mono"/>
              </a:rPr>
              <a:t>decoded = base64.b64decode(raw_data, validate=</a:t>
            </a:r>
            <a:r>
              <a:rPr sz="1050" b="0">
                <a:solidFill>
                  <a:srgbClr val="FF7B72"/>
                </a:solidFill>
                <a:latin typeface="JetBrains Mono"/>
              </a:rPr>
              <a:t>True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19" y="3474720"/>
            <a:ext cx="5404104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799" y="3497580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data = json.loads(decoded.decode(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"utf-8"</a:t>
            </a:r>
            <a:r>
              <a:rPr sz="1050" b="0">
                <a:solidFill>
                  <a:srgbClr val="8CE2AB"/>
                </a:solidFill>
                <a:latin typeface="JetBrains Mono"/>
              </a:rPr>
              <a:t>))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19" y="3662172"/>
            <a:ext cx="5404104" cy="187452"/>
          </a:xfrm>
          <a:prstGeom prst="roundRect">
            <a:avLst>
              <a:gd name="adj" fmla="val 9756"/>
            </a:avLst>
          </a:prstGeom>
          <a:solidFill>
            <a:srgbClr val="159A4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799" y="3685032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CE2AB"/>
                </a:solidFill>
                <a:latin typeface="JetBrains Mono"/>
              </a:rPr>
              <a:t># ← safe JSON instead of pickle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3872484"/>
            <a:ext cx="5038344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7B72"/>
                </a:solidFill>
                <a:latin typeface="JetBrains Mono"/>
              </a:rPr>
              <a:t>return </a:t>
            </a:r>
            <a:r>
              <a:rPr sz="1050" b="0">
                <a:solidFill>
                  <a:srgbClr val="DBE1E8"/>
                </a:solidFill>
                <a:latin typeface="JetBrains Mono"/>
              </a:rPr>
              <a:t>jsonify(data)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5196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A7078"/>
                </a:solidFill>
                <a:latin typeface="Figtree"/>
              </a:rPr>
              <a:t>The baseline takes the shortest path (</a:t>
            </a:r>
          </a:p>
          <a:p>
            <a:pPr algn="ctr"/>
            <a:r>
              <a:rPr sz="1200" b="1">
                <a:solidFill>
                  <a:srgbClr val="3C4047"/>
                </a:solidFill>
                <a:latin typeface="JetBrains Mono"/>
              </a:rPr>
              <a:t>pickle</a:t>
            </a:r>
          </a:p>
          <a:p>
            <a:pPr algn="ctr"/>
            <a:r>
              <a:rPr sz="1200" b="0">
                <a:solidFill>
                  <a:srgbClr val="6A7078"/>
                </a:solidFill>
                <a:latin typeface="Figtree"/>
              </a:rPr>
              <a:t>). CodeGuard swaps in safe JSON, adds input validation and </a:t>
            </a:r>
          </a:p>
          <a:p>
            <a:pPr algn="ctr"/>
            <a:r>
              <a:rPr sz="1200" b="0">
                <a:solidFill>
                  <a:srgbClr val="3C4047"/>
                </a:solidFill>
                <a:latin typeface="JetBrains Mono"/>
              </a:rPr>
              <a:t>validate=True</a:t>
            </a:r>
          </a:p>
          <a:p>
            <a:pPr algn="ctr"/>
            <a:r>
              <a:rPr sz="1200" b="0">
                <a:solidFill>
                  <a:srgbClr val="6A7078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Adoption ·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Team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078"/>
                </a:solidFill>
                <a:latin typeface="Figtree"/>
              </a:rPr>
              <a:t>One repo. One setup script. Works across every major AI coding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1091672" cy="384048"/>
          </a:xfrm>
          <a:prstGeom prst="roundRect">
            <a:avLst>
              <a:gd name="adj" fmla="val 14285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00">
                <a:solidFill>
                  <a:srgbClr val="6A7078"/>
                </a:solidFill>
                <a:latin typeface="Figtree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505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00">
                <a:solidFill>
                  <a:srgbClr val="6A7078"/>
                </a:solidFill>
                <a:latin typeface="Figtree"/>
              </a:rPr>
              <a:t>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4505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00">
                <a:solidFill>
                  <a:srgbClr val="6A7078"/>
                </a:solidFill>
                <a:latin typeface="Figtree"/>
              </a:rPr>
              <a:t>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16352"/>
            <a:ext cx="110916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-terminal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35224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1560" y="29443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0F11"/>
                </a:solidFill>
                <a:latin typeface="Figtree"/>
              </a:rPr>
              <a:t>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62656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./scripts/setup-codeguard.sh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92608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296265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59A4B"/>
                </a:solidFill>
                <a:latin typeface="Figtree"/>
              </a:rPr>
              <a:t>10 sec</a:t>
            </a:r>
          </a:p>
        </p:txBody>
      </p:sp>
      <p:pic>
        <p:nvPicPr>
          <p:cNvPr id="20" name="Picture 19" descr="i-sparkles_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38144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" y="34472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0F11"/>
                </a:solidFill>
                <a:latin typeface="Figtree"/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465576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/plugin install codeguard-security@project-codeguard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342900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46557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59A4B"/>
                </a:solidFill>
                <a:latin typeface="Figtree"/>
              </a:rPr>
              <a:t>15 sec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22191"/>
            <a:ext cx="110916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-cpu_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41063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1560" y="3950207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0F11"/>
                </a:solidFill>
                <a:latin typeface="Figtree"/>
              </a:rPr>
              <a:t>Cursor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968496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codeguard-cursor.zip → copy to project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39319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396849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59A4B"/>
                </a:solidFill>
                <a:latin typeface="Figtree"/>
              </a:rPr>
              <a:t>30 sec</a:t>
            </a:r>
          </a:p>
        </p:txBody>
      </p:sp>
      <p:pic>
        <p:nvPicPr>
          <p:cNvPr id="31" name="Picture 30" descr="i-git_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43984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1560" y="44531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0F11"/>
                </a:solidFill>
                <a:latin typeface="Figtree"/>
              </a:rPr>
              <a:t>GitHub 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471416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codeguard-copilot.zip → copy .github/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44348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447141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59A4B"/>
                </a:solidFill>
                <a:latin typeface="Figtree"/>
              </a:rPr>
              <a:t>30 sec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28032"/>
            <a:ext cx="110916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-globe_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946904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1560" y="49560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0F11"/>
                </a:solidFill>
                <a:latin typeface="Figtree"/>
              </a:rPr>
              <a:t>Windsurf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974336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codeguard-windsurf.zip → copy to project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07040" y="493776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497433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59A4B"/>
                </a:solidFill>
                <a:latin typeface="Figtree"/>
              </a:rPr>
              <a:t>30 sec</a:t>
            </a:r>
          </a:p>
        </p:txBody>
      </p:sp>
      <p:pic>
        <p:nvPicPr>
          <p:cNvPr id="42" name="Picture 41" descr="i-box_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449824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1560" y="54589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0F11"/>
                </a:solidFill>
                <a:latin typeface="Figtree"/>
              </a:rPr>
              <a:t>OpenAI Codex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477256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C4047"/>
                </a:solidFill>
                <a:latin typeface="JetBrains Mono"/>
              </a:rPr>
              <a:t>$skill-installer install …/project-codeguard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07040" y="544068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07040" y="547725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59A4B"/>
                </a:solidFill>
                <a:latin typeface="Figtree"/>
              </a:rPr>
              <a:t>30 sec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9AA1AB"/>
                </a:solidFill>
                <a:latin typeface="Figtree"/>
              </a:rPr>
              <a:t>Skills, rules, AGENTS.md and the installer live in version control — team members clone and run one command.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Summary ·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Key 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440680" cy="1600200"/>
          </a:xfrm>
          <a:prstGeom prst="roundRect">
            <a:avLst>
              <a:gd name="adj" fmla="val 5142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45720" cy="1600200"/>
          </a:xfrm>
          <a:prstGeom prst="rect">
            <a:avLst/>
          </a:prstGeom>
          <a:solidFill>
            <a:srgbClr val="EE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780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0F11"/>
                </a:solidFill>
                <a:latin typeface="Figtree"/>
              </a:rPr>
              <a:t>Speed without structure is dangerous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8892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047"/>
                </a:solidFill>
                <a:latin typeface="Figtree"/>
              </a:rPr>
              <a:t>AI agents write code 2–5× faster — including vulnerabilities at the same rate. Without structure, you ship bugs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2331720"/>
            <a:ext cx="5440680" cy="1600200"/>
          </a:xfrm>
          <a:prstGeom prst="roundRect">
            <a:avLst>
              <a:gd name="adj" fmla="val 5142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1" y="2331720"/>
            <a:ext cx="45720" cy="1600200"/>
          </a:xfrm>
          <a:prstGeom prst="rect">
            <a:avLst/>
          </a:prstGeom>
          <a:solidFill>
            <a:srgbClr val="00A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4780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0F11"/>
                </a:solidFill>
                <a:latin typeface="Figtree"/>
              </a:rPr>
              <a:t>The agentic workflow is the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78892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047"/>
                </a:solidFill>
                <a:latin typeface="Figtree"/>
              </a:rPr>
              <a:t>grill → spec → tickets → implement → review. Every output is verified; the AI is a teammate, not an oracle.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5440680" cy="1600200"/>
          </a:xfrm>
          <a:prstGeom prst="roundRect">
            <a:avLst>
              <a:gd name="adj" fmla="val 5142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45720" cy="1600200"/>
          </a:xfrm>
          <a:prstGeom prst="rect">
            <a:avLst/>
          </a:prstGeom>
          <a:solidFill>
            <a:srgbClr val="C0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2611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0F11"/>
                </a:solidFill>
                <a:latin typeface="Figtree"/>
              </a:rPr>
              <a:t>Security must be a separate axis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57200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047"/>
                </a:solidFill>
                <a:latin typeface="Figtree"/>
              </a:rPr>
              <a:t>Code review checks standards and spec. Security needs its own review with domain rules — don't let XSS compete with “rename this variable.”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4114800"/>
            <a:ext cx="5440680" cy="1600200"/>
          </a:xfrm>
          <a:prstGeom prst="roundRect">
            <a:avLst>
              <a:gd name="adj" fmla="val 5142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1" y="4114800"/>
            <a:ext cx="45720" cy="1600200"/>
          </a:xfrm>
          <a:prstGeom prst="rect">
            <a:avLst/>
          </a:prstGeom>
          <a:solidFill>
            <a:srgbClr val="15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2611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0F11"/>
                </a:solidFill>
                <a:latin typeface="Figtree"/>
              </a:rPr>
              <a:t>Prevention + detection = defense in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457200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C4047"/>
                </a:solidFill>
                <a:latin typeface="Figtree"/>
              </a:rPr>
              <a:t>CodeGuard during generation prevents; after generation it catches what slips through. 36.4% fewer vulnerabilities is the proof.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E1F2F"/>
                </a:solidFill>
                <a:latin typeface="Figtree"/>
              </a:rPr>
              <a:t>Secure by default. </a:t>
            </a:r>
          </a:p>
          <a:p>
            <a:pPr algn="ctr"/>
            <a:r>
              <a:rPr sz="2000" b="0">
                <a:solidFill>
                  <a:srgbClr val="6A7078"/>
                </a:solidFill>
                <a:latin typeface="Figtree"/>
              </a:rPr>
              <a:t>Not “secure if we remember.”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ragb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866482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79" y="292608"/>
            <a:ext cx="3687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160">
                <a:solidFill>
                  <a:srgbClr val="EE1F2F"/>
                </a:solidFill>
                <a:latin typeface="Figtree"/>
              </a:rPr>
              <a:t>Close ·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2512"/>
            <a:ext cx="12191695" cy="10972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A7078"/>
                </a:solidFill>
                <a:latin typeface="Figtree"/>
              </a:rPr>
              <a:t>Secure by Default — Security in AI Agentic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92240"/>
            <a:ext cx="1307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A1AB"/>
                </a:solidFill>
                <a:latin typeface="Figtree"/>
              </a:rP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70">
                <a:solidFill>
                  <a:srgbClr val="EE1F2F"/>
                </a:solidFill>
                <a:latin typeface="Figtree"/>
              </a:rP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0F11"/>
                </a:solidFill>
                <a:latin typeface="Figtree"/>
              </a:rPr>
              <a:t>Resources &amp; Next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440680" cy="1463040"/>
          </a:xfrm>
          <a:prstGeom prst="roundRect">
            <a:avLst>
              <a:gd name="adj" fmla="val 5624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47802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-db_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558491"/>
            <a:ext cx="204825" cy="204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299008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64408"/>
            <a:ext cx="51114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ADEF"/>
                </a:solidFill>
                <a:latin typeface="JetBrains Mono"/>
              </a:rPr>
              <a:t>github.com/abiolaks/security_skills_ai_coding</a:t>
            </a:r>
          </a:p>
          <a:p>
            <a:pPr algn="l"/>
            <a:r>
              <a:rPr sz="1050" b="0">
                <a:solidFill>
                  <a:srgbClr val="3C4047"/>
                </a:solidFill>
                <a:latin typeface="Figtree"/>
              </a:rPr>
              <a:t>Skills, rules, setup script and docs — everything from this talk.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331720"/>
            <a:ext cx="5440680" cy="1463040"/>
          </a:xfrm>
          <a:prstGeom prst="roundRect">
            <a:avLst>
              <a:gd name="adj" fmla="val 5624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3" y="247802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-shield_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2558491"/>
            <a:ext cx="204825" cy="204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64223" y="299008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Project CodeGuard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3" y="3264408"/>
            <a:ext cx="51114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ADEF"/>
                </a:solidFill>
                <a:latin typeface="JetBrains Mono"/>
              </a:rPr>
              <a:t>project-codeguard.org</a:t>
            </a:r>
          </a:p>
          <a:p>
            <a:pPr algn="l"/>
            <a:r>
              <a:rPr sz="1050" b="0">
                <a:solidFill>
                  <a:srgbClr val="3C4047"/>
                </a:solidFill>
                <a:latin typeface="Figtree"/>
              </a:rPr>
              <a:t>CoSAI / OASIS open standard. 23 rules, all major agents supported.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5440680" cy="1463040"/>
          </a:xfrm>
          <a:prstGeom prst="roundRect">
            <a:avLst>
              <a:gd name="adj" fmla="val 5624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407822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-book_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" y="4158691"/>
            <a:ext cx="204825" cy="204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3232" y="459028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The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864607"/>
            <a:ext cx="51114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ADEF"/>
                </a:solidFill>
                <a:latin typeface="JetBrains Mono"/>
              </a:rPr>
              <a:t>community.cisco.com</a:t>
            </a:r>
          </a:p>
          <a:p>
            <a:pPr algn="l"/>
            <a:r>
              <a:rPr sz="1050" b="0">
                <a:solidFill>
                  <a:srgbClr val="3C4047"/>
                </a:solidFill>
                <a:latin typeface="Figtree"/>
              </a:rPr>
              <a:t>“Can Security Rules Make AI Generated Code Safer?” — 2,717 prompts, GPT-5, 36.4% reduction.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3931920"/>
            <a:ext cx="5440680" cy="1463040"/>
          </a:xfrm>
          <a:prstGeom prst="roundRect">
            <a:avLst>
              <a:gd name="adj" fmla="val 5624"/>
            </a:avLst>
          </a:prstGeom>
          <a:solidFill>
            <a:srgbClr val="F6F7F8"/>
          </a:solidFill>
          <a:ln w="12700">
            <a:solidFill>
              <a:srgbClr val="E7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4223" y="407822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-refresh_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691" y="4158691"/>
            <a:ext cx="204825" cy="2048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64223" y="459028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0F11"/>
                </a:solidFill>
                <a:latin typeface="Figtree"/>
              </a:rPr>
              <a:t>Agentic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3" y="4864607"/>
            <a:ext cx="51114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ADEF"/>
                </a:solidFill>
                <a:latin typeface="JetBrains Mono"/>
              </a:rPr>
              <a:t>github.com/cosai-oasis/project-codeguard</a:t>
            </a:r>
          </a:p>
          <a:p>
            <a:pPr algn="l"/>
            <a:r>
              <a:rPr sz="1050" b="0">
                <a:solidFill>
                  <a:srgbClr val="3C4047"/>
                </a:solidFill>
                <a:latin typeface="Figtree"/>
              </a:rPr>
              <a:t>Full source, MCP server and rule-translator tooling.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0E0F11"/>
                </a:solidFill>
                <a:latin typeface="Figtree"/>
              </a:rPr>
              <a:t>Thank you. </a:t>
            </a:r>
          </a:p>
          <a:p>
            <a:pPr algn="ctr"/>
            <a:r>
              <a:rPr sz="2600" b="0">
                <a:solidFill>
                  <a:srgbClr val="6A7078"/>
                </a:solidFill>
                <a:latin typeface="Figtree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